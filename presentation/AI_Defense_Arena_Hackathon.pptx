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i-defense-arena.onrender.com" TargetMode="Externa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i-defense-arena.onrender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475488"/>
            <a:ext cx="228600" cy="228600"/>
          </a:xfrm>
          <a:prstGeom prst="ellipse">
            <a:avLst/>
          </a:prstGeom>
          <a:solidFill>
            <a:srgbClr val="EF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09960" y="475488"/>
            <a:ext cx="228600" cy="228600"/>
          </a:xfrm>
          <a:prstGeom prst="ellipse">
            <a:avLst/>
          </a:prstGeom>
          <a:solidFill>
            <a:srgbClr val="EF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52760" y="950976"/>
            <a:ext cx="228600" cy="228600"/>
          </a:xfrm>
          <a:prstGeom prst="ellipse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950976"/>
            <a:ext cx="228600" cy="228600"/>
          </a:xfrm>
          <a:prstGeom prst="ellipse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786384"/>
            <a:ext cx="47548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D3F2"/>
                </a:solidFill>
                <a:latin typeface="Arial"/>
              </a:rPr>
              <a:t>PROJECT DEFENSE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298448"/>
            <a:ext cx="525780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Arial"/>
              </a:rPr>
              <a:t>AI DEFENSE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Arial"/>
              </a:rPr>
              <a:t>ARENA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319272"/>
            <a:ext cx="5230368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7D6E8"/>
                </a:solidFill>
                <a:latin typeface="Arial"/>
              </a:rPr>
              <a:t>Practice defending your own code as a team—before the real panel.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4626864"/>
            <a:ext cx="1389888" cy="347472"/>
          </a:xfrm>
          <a:prstGeom prst="round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700016"/>
            <a:ext cx="12070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4 AI panelists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21992" y="4626864"/>
            <a:ext cx="1508760" cy="347472"/>
          </a:xfrm>
          <a:prstGeom prst="roundRect">
            <a:avLst/>
          </a:prstGeom>
          <a:solidFill>
            <a:srgbClr val="3D6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4700016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Exact citations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67912" y="4626864"/>
            <a:ext cx="1545336" cy="347472"/>
          </a:xfrm>
          <a:prstGeom prst="roundRect">
            <a:avLst/>
          </a:prstGeom>
          <a:solidFill>
            <a:srgbClr val="755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4700016"/>
            <a:ext cx="13624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Live team 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44184"/>
            <a:ext cx="5303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D3F2"/>
                </a:solidFill>
                <a:latin typeface="Arial"/>
                <a:hlinkClick r:id="rId2"/>
              </a:rPr>
              <a:t>ai-defense-arena.onrender.com 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385316"/>
            <a:ext cx="5385816" cy="3410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96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39037"/>
            <a:ext cx="5285232" cy="33032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0" y="4956048"/>
            <a:ext cx="49560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CB3CE"/>
                </a:solidFill>
                <a:latin typeface="Arial"/>
              </a:rPr>
              <a:t>Actual app UI · mock preview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510528"/>
            <a:ext cx="2743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B3CE"/>
                </a:solidFill>
                <a:latin typeface="Arial"/>
              </a:rPr>
              <a:t>AI DEFENSE ARENA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1632" y="6510528"/>
            <a:ext cx="777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B3CE"/>
                </a:solidFill>
                <a:latin typeface="Arial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502920"/>
            <a:ext cx="82296" cy="420624"/>
          </a:xfrm>
          <a:prstGeom prst="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4805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85D7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3210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D2B45"/>
                </a:solidFill>
                <a:latin typeface="Arial"/>
              </a:rPr>
              <a:t>Building a project is not the same as defending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2743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AI DEFENSE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510528"/>
            <a:ext cx="777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02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947672"/>
            <a:ext cx="3602736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85416"/>
            <a:ext cx="5212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7E89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97480"/>
            <a:ext cx="309981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D2B45"/>
                </a:solidFill>
                <a:latin typeface="Arial"/>
              </a:rPr>
              <a:t>Surprise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46120"/>
            <a:ext cx="3063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F718B"/>
                </a:solidFill>
                <a:latin typeface="Arial"/>
              </a:rPr>
              <a:t>A real panel can challenge the choices you did not rehearse.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1947672"/>
            <a:ext cx="3602736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85416"/>
            <a:ext cx="5212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85D7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97480"/>
            <a:ext cx="309981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D2B45"/>
                </a:solidFill>
                <a:latin typeface="Arial"/>
              </a:rPr>
              <a:t>Generic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46120"/>
            <a:ext cx="3063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F718B"/>
                </a:solidFill>
                <a:latin typeface="Arial"/>
              </a:rPr>
              <a:t>Ordinary prompts miss the details in your own README and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8471" y="1947672"/>
            <a:ext cx="3602736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185416"/>
            <a:ext cx="5212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68CE3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697480"/>
            <a:ext cx="309981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D2B45"/>
                </a:solidFill>
                <a:latin typeface="Arial"/>
              </a:rPr>
              <a:t>Team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3246120"/>
            <a:ext cx="3063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F718B"/>
                </a:solidFill>
                <a:latin typeface="Arial"/>
              </a:rPr>
              <a:t>Everyone needs a fair chance to speak with a clock running.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4910328"/>
            <a:ext cx="10936224" cy="932688"/>
          </a:xfrm>
          <a:prstGeom prst="roundRect">
            <a:avLst/>
          </a:prstGeom>
          <a:solidFill>
            <a:srgbClr val="11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5166360"/>
            <a:ext cx="12070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3F2"/>
                </a:solidFill>
                <a:latin typeface="Arial"/>
              </a:rPr>
              <a:t>The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129784"/>
            <a:ext cx="90891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Turn project files into realistic, evidence-based defense practice.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502920"/>
            <a:ext cx="82296" cy="420624"/>
          </a:xfrm>
          <a:prstGeom prst="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4805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85D7"/>
                </a:solidFill>
                <a:latin typeface="Arial"/>
              </a:rPr>
              <a:t>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3210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D2B45"/>
                </a:solidFill>
                <a:latin typeface="Arial"/>
              </a:rPr>
              <a:t>One upload becomes a guided team defense.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2743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AI DEFENSE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510528"/>
            <a:ext cx="777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03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93008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057400"/>
            <a:ext cx="420624" cy="420624"/>
          </a:xfrm>
          <a:prstGeom prst="round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67127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25603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D2B45"/>
                </a:solidFill>
                <a:latin typeface="Arial"/>
              </a:rPr>
              <a:t>Upload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251460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718B"/>
                </a:solidFill>
                <a:latin typeface="Arial"/>
              </a:rPr>
              <a:t>Source files or a ZIP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74519"/>
            <a:ext cx="3493008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2057400"/>
            <a:ext cx="420624" cy="420624"/>
          </a:xfrm>
          <a:prstGeom prst="roundRect">
            <a:avLst/>
          </a:prstGeom>
          <a:solidFill>
            <a:srgbClr val="A68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67127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03120"/>
            <a:ext cx="25603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D2B45"/>
                </a:solidFill>
                <a:latin typeface="Arial"/>
              </a:rPr>
              <a:t>Join the 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60320"/>
            <a:ext cx="251460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718B"/>
                </a:solidFill>
                <a:latin typeface="Arial"/>
              </a:rPr>
              <a:t>Up to four defenders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874519"/>
            <a:ext cx="3493008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19" y="2057400"/>
            <a:ext cx="420624" cy="420624"/>
          </a:xfrm>
          <a:prstGeom prst="roundRect">
            <a:avLst/>
          </a:prstGeom>
          <a:solidFill>
            <a:srgbClr val="EF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2167127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03120"/>
            <a:ext cx="25603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D2B45"/>
                </a:solidFill>
                <a:latin typeface="Arial"/>
              </a:rPr>
              <a:t>AI 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560320"/>
            <a:ext cx="251460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718B"/>
                </a:solidFill>
                <a:latin typeface="Arial"/>
              </a:rPr>
              <a:t>Question + exact source 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30752"/>
            <a:ext cx="3493008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59" y="3913632"/>
            <a:ext cx="420624" cy="420624"/>
          </a:xfrm>
          <a:prstGeom prst="roundRect">
            <a:avLst/>
          </a:prstGeom>
          <a:solidFill>
            <a:srgbClr val="F4B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023360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959352"/>
            <a:ext cx="25603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D2B45"/>
                </a:solidFill>
                <a:latin typeface="Arial"/>
              </a:rPr>
              <a:t>Vote for speaker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16552"/>
            <a:ext cx="251460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718B"/>
                </a:solidFill>
                <a:latin typeface="Arial"/>
              </a:rPr>
              <a:t>15 seconds per question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730752"/>
            <a:ext cx="3493008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63440" y="3913632"/>
            <a:ext cx="420624" cy="420624"/>
          </a:xfrm>
          <a:prstGeom prst="round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023360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959352"/>
            <a:ext cx="25603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D2B45"/>
                </a:solidFill>
                <a:latin typeface="Arial"/>
              </a:rPr>
              <a:t>Answer together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416552"/>
            <a:ext cx="251460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718B"/>
                </a:solidFill>
                <a:latin typeface="Arial"/>
              </a:rPr>
              <a:t>2 minutes; private team chat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730752"/>
            <a:ext cx="3493008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03919" y="3913632"/>
            <a:ext cx="420624" cy="420624"/>
          </a:xfrm>
          <a:prstGeom prst="round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4023360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3959352"/>
            <a:ext cx="25603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D2B45"/>
                </a:solidFill>
                <a:latin typeface="Arial"/>
              </a:rPr>
              <a:t>Review coaching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416552"/>
            <a:ext cx="251460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718B"/>
                </a:solidFill>
                <a:latin typeface="Arial"/>
              </a:rPr>
              <a:t>Transcript + next step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888736"/>
            <a:ext cx="10835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718B"/>
                </a:solidFill>
                <a:latin typeface="Arial"/>
              </a:rPr>
              <a:t>4–8 resolved turns  ·  every judge speaks at least once  ·  a missed answer stays marked unanswered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502920"/>
            <a:ext cx="82296" cy="420624"/>
          </a:xfrm>
          <a:prstGeom prst="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4805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D3F2"/>
                </a:solidFill>
                <a:latin typeface="Arial"/>
              </a:rPr>
              <a:t>THE AI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3210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Four perspectives. One shared project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2743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B3CE"/>
                </a:solidFill>
                <a:latin typeface="Arial"/>
              </a:rPr>
              <a:t>AI DEFENSE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510528"/>
            <a:ext cx="777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B3CE"/>
                </a:solidFill>
                <a:latin typeface="Arial"/>
              </a:rPr>
              <a:t>04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55648"/>
            <a:ext cx="5321808" cy="1627632"/>
          </a:xfrm>
          <a:prstGeom prst="roundRect">
            <a:avLst/>
          </a:prstGeom>
          <a:solidFill>
            <a:srgbClr val="1C2943"/>
          </a:solidFill>
          <a:ln w="10160">
            <a:solidFill>
              <a:srgbClr val="34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002536"/>
            <a:ext cx="685800" cy="685800"/>
          </a:xfrm>
          <a:prstGeom prst="round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02536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11B31"/>
                </a:solidFill>
                <a:latin typeface="Arial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011680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Technical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542032"/>
            <a:ext cx="393192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C9D7E8"/>
                </a:solidFill>
                <a:latin typeface="Arial"/>
              </a:rPr>
              <a:t>Design choices, architecture, and tradeoffs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55648"/>
            <a:ext cx="5321808" cy="1627632"/>
          </a:xfrm>
          <a:prstGeom prst="roundRect">
            <a:avLst/>
          </a:prstGeom>
          <a:solidFill>
            <a:srgbClr val="1C2943"/>
          </a:solidFill>
          <a:ln w="10160">
            <a:solidFill>
              <a:srgbClr val="34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4808" y="2002536"/>
            <a:ext cx="685800" cy="685800"/>
          </a:xfrm>
          <a:prstGeom prst="roundRect">
            <a:avLst/>
          </a:prstGeom>
          <a:solidFill>
            <a:srgbClr val="EF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02536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11B31"/>
                </a:solidFill>
                <a:latin typeface="Arial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2011680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Security 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2542032"/>
            <a:ext cx="393192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C9D7E8"/>
                </a:solidFill>
                <a:latin typeface="Arial"/>
              </a:rPr>
              <a:t>Real security implications in the uploaded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685032"/>
            <a:ext cx="5321808" cy="1627632"/>
          </a:xfrm>
          <a:prstGeom prst="roundRect">
            <a:avLst/>
          </a:prstGeom>
          <a:solidFill>
            <a:srgbClr val="1C2943"/>
          </a:solidFill>
          <a:ln w="10160">
            <a:solidFill>
              <a:srgbClr val="34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931920"/>
            <a:ext cx="685800" cy="685800"/>
          </a:xfrm>
          <a:prstGeom prst="roundRect">
            <a:avLst/>
          </a:prstGeom>
          <a:solidFill>
            <a:srgbClr val="F4B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319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11B31"/>
                </a:solidFill>
                <a:latin typeface="Arial"/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3941064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Product 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4471416"/>
            <a:ext cx="393192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C9D7E8"/>
                </a:solidFill>
                <a:latin typeface="Arial"/>
              </a:rPr>
              <a:t>User value, workflow, and success measures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685032"/>
            <a:ext cx="5321808" cy="1627632"/>
          </a:xfrm>
          <a:prstGeom prst="roundRect">
            <a:avLst/>
          </a:prstGeom>
          <a:solidFill>
            <a:srgbClr val="1C2943"/>
          </a:solidFill>
          <a:ln w="10160">
            <a:solidFill>
              <a:srgbClr val="34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64808" y="3931920"/>
            <a:ext cx="685800" cy="685800"/>
          </a:xfrm>
          <a:prstGeom prst="roundRect">
            <a:avLst/>
          </a:prstGeom>
          <a:solidFill>
            <a:srgbClr val="A68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93192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11B31"/>
                </a:solidFill>
                <a:latin typeface="Arial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3941064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Critical Judge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1" y="4471416"/>
            <a:ext cx="393192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C9D7E8"/>
                </a:solidFill>
                <a:latin typeface="Arial"/>
              </a:rPr>
              <a:t>Assumptions, alternatives, and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97296"/>
            <a:ext cx="1083564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C7D6E8"/>
                </a:solidFill>
                <a:latin typeface="Arial"/>
              </a:rPr>
              <a:t>One AI service uses role-specific prompts. It may ask one immediate follow-up, then moves to the next judge.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502920"/>
            <a:ext cx="82296" cy="420624"/>
          </a:xfrm>
          <a:prstGeom prst="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4805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85D7"/>
                </a:solidFill>
                <a:latin typeface="Arial"/>
              </a:rPr>
              <a:t>IN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3210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D2B45"/>
                </a:solidFill>
                <a:latin typeface="Arial"/>
              </a:rPr>
              <a:t>Questions stay tied to the project’s own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2743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AI DEFENSE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510528"/>
            <a:ext cx="777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05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" y="1613916"/>
            <a:ext cx="8010144" cy="4901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64208"/>
            <a:ext cx="7680960" cy="4800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87968" y="1783080"/>
            <a:ext cx="263347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9136" y="193852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85D7"/>
                </a:solidFill>
                <a:latin typeface="Arial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9136" y="2258568"/>
            <a:ext cx="221284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2B45"/>
                </a:solidFill>
                <a:latin typeface="Arial"/>
              </a:rPr>
              <a:t>Filename, line number, and exact text are shown.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7968" y="3209544"/>
            <a:ext cx="263347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3364991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85D7"/>
                </a:solidFill>
                <a:latin typeface="Arial"/>
              </a:rPr>
              <a:t>SPEAKER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9136" y="3685031"/>
            <a:ext cx="221284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2B45"/>
                </a:solidFill>
                <a:latin typeface="Arial"/>
              </a:rPr>
              <a:t>The team votes before the answer clock starts.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7968" y="4636008"/>
            <a:ext cx="263347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479145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85D7"/>
                </a:solidFill>
                <a:latin typeface="Arial"/>
              </a:rPr>
              <a:t>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5111496"/>
            <a:ext cx="221284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D2B45"/>
                </a:solidFill>
                <a:latin typeface="Arial"/>
              </a:rPr>
              <a:t>Private chat helps the chosen defender respond.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613562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F718B"/>
                </a:solidFill>
                <a:latin typeface="Arial"/>
              </a:rPr>
              <a:t>Illustrative UI preview; real questions are generated from uploaded project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502920"/>
            <a:ext cx="82296" cy="420624"/>
          </a:xfrm>
          <a:prstGeom prst="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4805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85D7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3210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D2B45"/>
                </a:solidFill>
                <a:latin typeface="Arial"/>
              </a:rPr>
              <a:t>A small, deliberate architecture for the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2743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AI DEFENSE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510528"/>
            <a:ext cx="777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06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56231"/>
            <a:ext cx="309981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56231"/>
            <a:ext cx="82296" cy="1152144"/>
          </a:xfrm>
          <a:prstGeom prst="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27157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85D7"/>
                </a:solidFill>
                <a:latin typeface="Arial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68296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D2B45"/>
                </a:solidFill>
                <a:latin typeface="Arial"/>
              </a:rPr>
              <a:t>React + Three.js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1856231"/>
            <a:ext cx="309981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856231"/>
            <a:ext cx="82296" cy="1152144"/>
          </a:xfrm>
          <a:prstGeom prst="rect">
            <a:avLst/>
          </a:prstGeom>
          <a:solidFill>
            <a:srgbClr val="A68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039112"/>
            <a:ext cx="27157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68CE3"/>
                </a:solidFill>
                <a:latin typeface="Arial"/>
              </a:rPr>
              <a:t>ROOM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2368296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D2B45"/>
                </a:solidFill>
                <a:latin typeface="Arial"/>
              </a:rPr>
              <a:t>FastAPI + WebSockets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1856231"/>
            <a:ext cx="309981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94192" y="1856231"/>
            <a:ext cx="82296" cy="1152144"/>
          </a:xfrm>
          <a:prstGeom prst="rect">
            <a:avLst/>
          </a:prstGeom>
          <a:solidFill>
            <a:srgbClr val="EF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2039112"/>
            <a:ext cx="27157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F7E89"/>
                </a:solidFill>
                <a:latin typeface="Arial"/>
              </a:rPr>
              <a:t>AI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2368296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D2B45"/>
                </a:solidFill>
                <a:latin typeface="Arial"/>
              </a:rPr>
              <a:t>OpenAI Responses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41063"/>
            <a:ext cx="309981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41063"/>
            <a:ext cx="82296" cy="1152144"/>
          </a:xfrm>
          <a:prstGeom prst="rect">
            <a:avLst/>
          </a:prstGeom>
          <a:solidFill>
            <a:srgbClr val="F4B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27157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B851"/>
                </a:solidFill>
                <a:latin typeface="Arial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53127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D2B45"/>
                </a:solidFill>
                <a:latin typeface="Arial"/>
              </a:rPr>
              <a:t>Uploaded code + docs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3941063"/>
            <a:ext cx="309981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5424" y="3941063"/>
            <a:ext cx="82296" cy="1152144"/>
          </a:xfrm>
          <a:prstGeom prst="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4024" y="4123944"/>
            <a:ext cx="27157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D3F2"/>
                </a:solidFill>
                <a:latin typeface="Arial"/>
              </a:rPr>
              <a:t>ROOM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4" y="4453127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D2B45"/>
                </a:solidFill>
                <a:latin typeface="Arial"/>
              </a:rPr>
              <a:t>Votes, timers, answers, chat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2" y="3941063"/>
            <a:ext cx="309981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94192" y="3941063"/>
            <a:ext cx="82296" cy="1152144"/>
          </a:xfrm>
          <a:prstGeom prst="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2792" y="4123944"/>
            <a:ext cx="27157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85D7"/>
                </a:solidFill>
                <a:latin typeface="Arial"/>
              </a:rPr>
              <a:t>GROUNDING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2792" y="4453127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D2B45"/>
                </a:solidFill>
                <a:latin typeface="Arial"/>
              </a:rPr>
              <a:t>Validate file + exact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8496" y="2139696"/>
            <a:ext cx="402336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F85D7"/>
                </a:solidFill>
                <a:latin typeface="Arial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08975" y="2139696"/>
            <a:ext cx="402336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F85D7"/>
                </a:solidFill>
                <a:latin typeface="Arial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3154680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F718B"/>
                </a:solidFill>
                <a:latin typeface="Arial"/>
              </a:rPr>
              <a:t>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8736" y="3154680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F718B"/>
                </a:solidFill>
                <a:latin typeface="Arial"/>
              </a:rPr>
              <a:t>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3154680"/>
            <a:ext cx="4114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5F718B"/>
                </a:solidFill>
                <a:latin typeface="Arial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582472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F718B"/>
                </a:solidFill>
                <a:latin typeface="Arial"/>
              </a:rPr>
              <a:t>Single Render service · source text stays in memory · room state resets on restart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502920"/>
            <a:ext cx="82296" cy="420624"/>
          </a:xfrm>
          <a:prstGeom prst="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4805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85D7"/>
                </a:solidFill>
                <a:latin typeface="Arial"/>
              </a:rPr>
              <a:t>WHAT I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3210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D2B45"/>
                </a:solidFill>
                <a:latin typeface="Arial"/>
              </a:rPr>
              <a:t>I shaped the product and shipped the working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2743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AI DEFENSE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510528"/>
            <a:ext cx="777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F718B"/>
                </a:solidFill>
                <a:latin typeface="Arial"/>
              </a:rPr>
              <a:t>07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28216"/>
            <a:ext cx="5349240" cy="416966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85D7"/>
                </a:solidFill>
                <a:latin typeface="Arial"/>
              </a:rPr>
              <a:t>THE 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478024"/>
            <a:ext cx="91440" cy="91440"/>
          </a:xfrm>
          <a:prstGeom prst="round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414016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1D2B45"/>
                </a:solidFill>
                <a:latin typeface="Arial"/>
              </a:rPr>
              <a:t>A playable defense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734056"/>
            <a:ext cx="4517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718B"/>
                </a:solidFill>
                <a:latin typeface="Arial"/>
              </a:rPr>
              <a:t>Four AI judge roles and four defender seats.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264408"/>
            <a:ext cx="91440" cy="91440"/>
          </a:xfrm>
          <a:prstGeom prst="round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200400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1D2B45"/>
                </a:solidFill>
                <a:latin typeface="Arial"/>
              </a:rPr>
              <a:t>Evidence-based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520440"/>
            <a:ext cx="4517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718B"/>
                </a:solidFill>
                <a:latin typeface="Arial"/>
              </a:rPr>
              <a:t>Every question displays a validated source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4050792"/>
            <a:ext cx="91440" cy="91440"/>
          </a:xfrm>
          <a:prstGeom prst="round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986784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1D2B45"/>
                </a:solidFill>
                <a:latin typeface="Arial"/>
              </a:rPr>
              <a:t>Timed team 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306824"/>
            <a:ext cx="4517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718B"/>
                </a:solidFill>
                <a:latin typeface="Arial"/>
              </a:rPr>
              <a:t>Speaker voting, answer clock, and private chat.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837176"/>
            <a:ext cx="91440" cy="91440"/>
          </a:xfrm>
          <a:prstGeom prst="roundRect">
            <a:avLst/>
          </a:prstGeom>
          <a:solidFill>
            <a:srgbClr val="2F8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773168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1D2B45"/>
                </a:solidFill>
                <a:latin typeface="Arial"/>
              </a:rPr>
              <a:t>Useful coaching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5093208"/>
            <a:ext cx="4517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F718B"/>
                </a:solidFill>
                <a:latin typeface="Arial"/>
              </a:rPr>
              <a:t>Saved transcript with strengths and improvements.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28216"/>
            <a:ext cx="5349240" cy="4169663"/>
          </a:xfrm>
          <a:prstGeom prst="roundRect">
            <a:avLst/>
          </a:prstGeom>
          <a:solidFill>
            <a:srgbClr val="111B31"/>
          </a:solidFill>
          <a:ln w="10160">
            <a:solidFill>
              <a:srgbClr val="111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984248"/>
            <a:ext cx="4544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D3F2"/>
                </a:solidFill>
                <a:latin typeface="Arial"/>
              </a:rPr>
              <a:t>MY CONTRIBUTION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1384" y="2478024"/>
            <a:ext cx="91440" cy="91440"/>
          </a:xfrm>
          <a:prstGeom prst="round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414016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Arial"/>
              </a:rPr>
              <a:t>Set the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734056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6E8"/>
                </a:solidFill>
                <a:latin typeface="Arial"/>
              </a:rPr>
              <a:t>An AI panel that reads the team’s actual project.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01384" y="3264408"/>
            <a:ext cx="91440" cy="91440"/>
          </a:xfrm>
          <a:prstGeom prst="round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200400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Arial"/>
              </a:rPr>
              <a:t>Directed the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520440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6E8"/>
                </a:solidFill>
                <a:latin typeface="Arial"/>
              </a:rPr>
              <a:t>Roles, citations, multiplayer flow, timers, UX.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01384" y="4050792"/>
            <a:ext cx="91440" cy="91440"/>
          </a:xfrm>
          <a:prstGeom prst="round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986784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Arial"/>
              </a:rPr>
              <a:t>Reviewed checkpoints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306824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6E8"/>
                </a:solidFill>
                <a:latin typeface="Arial"/>
              </a:rPr>
              <a:t>Tested behavior and steered each iteration.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01384" y="4837176"/>
            <a:ext cx="91440" cy="91440"/>
          </a:xfrm>
          <a:prstGeom prst="round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77316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FFFFF"/>
                </a:solidFill>
                <a:latin typeface="Arial"/>
              </a:rPr>
              <a:t>Delivered the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093208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6E8"/>
                </a:solidFill>
                <a:latin typeface="Arial"/>
              </a:rPr>
              <a:t>Private repository and Render deployment.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080760"/>
            <a:ext cx="10881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F718B"/>
                </a:solidFill>
                <a:latin typeface="Arial"/>
              </a:rPr>
              <a:t>AI coding agents accelerated implementation; I owned the direction, review, and release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5AD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694944"/>
            <a:ext cx="42519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D3F2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61288"/>
            <a:ext cx="10899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FFFFFF"/>
                </a:solidFill>
                <a:latin typeface="Arial"/>
              </a:rPr>
              <a:t>Can your team defend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FFFFFF"/>
                </a:solidFill>
                <a:latin typeface="Arial"/>
              </a:rPr>
              <a:t>the choices behind its code?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2980944"/>
            <a:ext cx="10698480" cy="1005840"/>
          </a:xfrm>
          <a:prstGeom prst="roundRect">
            <a:avLst/>
          </a:prstGeom>
          <a:solidFill>
            <a:srgbClr val="1C2943"/>
          </a:solidFill>
          <a:ln w="12700">
            <a:solidFill>
              <a:srgbClr val="3F5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328416"/>
            <a:ext cx="102412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AD3F2"/>
                </a:solidFill>
                <a:latin typeface="Arial"/>
                <a:hlinkClick r:id="rId2"/>
              </a:rPr>
              <a:t>https://ai-defense-arena.onrender.com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608576"/>
            <a:ext cx="484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B851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460857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Upload source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4608576"/>
            <a:ext cx="484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B851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3752" y="460857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Join with a room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7575" y="4608576"/>
            <a:ext cx="484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B851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1" y="460857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Vote, answer,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106984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FC0D6"/>
                </a:solidFill>
                <a:latin typeface="Arial"/>
              </a:rPr>
              <a:t>Prototype note: rooms are in memory and reset when the service restarts.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510528"/>
            <a:ext cx="2743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B3CE"/>
                </a:solidFill>
                <a:latin typeface="Arial"/>
              </a:rPr>
              <a:t>AI DEFENSE ARENA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1632" y="6510528"/>
            <a:ext cx="77724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B3CE"/>
                </a:solidFill>
                <a:latin typeface="Arial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